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B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ver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685800"/>
            <a:ext cx="54864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9202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FB594"/>
                </a:solidFill>
                <a:latin typeface="Segoe UI Semibold"/>
              </a:rPr>
              <a:t>BÁO CÁO DỰ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3F5F8"/>
                </a:solidFill>
                <a:latin typeface="Segoe UI Semibold"/>
              </a:rPr>
              <a:t>Hệ thống Giám sát &amp; Tự động hoá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3F5F8"/>
                </a:solidFill>
                <a:latin typeface="Segoe UI Semibold"/>
              </a:rPr>
              <a:t>Xử lý sự cố PC bằng 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3E9BE8"/>
                </a:solidFill>
                <a:latin typeface="Segoe UI"/>
              </a:rPr>
              <a:t>PCHealth AI Agent 2000  ·  Quy mô 2.000 máy trạm  ·  Phiên bản 1.6.1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939FB8"/>
                </a:solidFill>
                <a:latin typeface="Segoe UI"/>
              </a:rPr>
              <a:t>Bổ sung: trợ lý netchat, phân quyền theo khu vực, tự mở rộng xử lý tự động, tự cập nhật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Báo cáo trình bày lãnh đạo  ·  Tài liệu nội bộ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Phòng/Ban Công nghệ thông 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BỐI CẢNH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02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F3F5F8"/>
                </a:solidFill>
                <a:latin typeface="Segoe UI Semibold"/>
              </a:rPr>
              <a:t>2.000 máy trạm, giám sát thủ công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F3F5F8"/>
                </a:solidFill>
                <a:latin typeface="Segoe UI Semibold"/>
              </a:rPr>
              <a:t>không còn theo kịp quy mô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520440" cy="356616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3520440" cy="73152"/>
          </a:xfrm>
          <a:prstGeom prst="rect">
            <a:avLst/>
          </a:prstGeom>
          <a:solidFill>
            <a:srgbClr val="E5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78608"/>
            <a:ext cx="777240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4519" y="2578608"/>
            <a:ext cx="2011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55353"/>
                </a:solidFill>
                <a:latin typeface="Segoe UI Semibold"/>
              </a:rPr>
              <a:t>Phát hiện muộn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3F5F8"/>
                </a:solidFill>
                <a:latin typeface="Segoe UI"/>
              </a:rPr>
              <a:t>Sự cố (ổ đĩa đầy, CPU quá nhiệt, lỗi ổ cứng) thường chỉ được biết khi người dùng đã bị gián đoạn công việc và tự báo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331720"/>
            <a:ext cx="3520440" cy="356616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331720"/>
            <a:ext cx="3520440" cy="73152"/>
          </a:xfrm>
          <a:prstGeom prst="rect">
            <a:avLst/>
          </a:prstGeom>
          <a:solidFill>
            <a:srgbClr val="F2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rep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578608"/>
            <a:ext cx="777240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2578608"/>
            <a:ext cx="2011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2B02E"/>
                </a:solidFill>
                <a:latin typeface="Segoe UI Semibold"/>
              </a:rPr>
              <a:t>Tốn nhân lực lặp lại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52044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3F5F8"/>
                </a:solidFill>
                <a:latin typeface="Segoe UI"/>
              </a:rPr>
              <a:t>IT lặp lại các thao tác xử lý cơ bản giống nhau hàng trăm lần/tháng thay vì tập trung vào việc cần chuyên môn cao hơn.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331720"/>
            <a:ext cx="3520440" cy="356616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331720"/>
            <a:ext cx="3520440" cy="73152"/>
          </a:xfrm>
          <a:prstGeom prst="rect">
            <a:avLst/>
          </a:prstGeom>
          <a:solidFill>
            <a:srgbClr val="3E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578608"/>
            <a:ext cx="777240" cy="777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64040" y="2578608"/>
            <a:ext cx="2011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3E9BE8"/>
                </a:solidFill>
                <a:latin typeface="Segoe UI Semibold"/>
              </a:rPr>
              <a:t>Không có dữ liệu tổng thể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52044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3F5F8"/>
                </a:solidFill>
                <a:latin typeface="Segoe UI"/>
              </a:rPr>
              <a:t>Không thể trả lời nhanh: hiện có bao nhiêu máy đang ở mức rủi ro cao? xu hướng tăng hay giảm theo thời gian?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939FB8"/>
                </a:solidFill>
                <a:latin typeface="Segoe UI"/>
              </a:rPr>
              <a:t>Nguồn: khảo sát thực trạng vận hành trước dự án — docs/00_Dan_y_va_phan_bien.md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03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3F5F8"/>
                </a:solidFill>
                <a:latin typeface="Segoe UI Semibold"/>
              </a:rPr>
              <a:t>Kiến trúc 6 lớp — mỗi lớp một trách nhiệm rõ ràng</a:t>
            </a:r>
          </a:p>
        </p:txBody>
      </p:sp>
      <p:pic>
        <p:nvPicPr>
          <p:cNvPr id="6" name="Picture 5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91640"/>
            <a:ext cx="8686800" cy="47156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939FB8"/>
                </a:solidFill>
                <a:latin typeface="Segoe UI"/>
              </a:rPr>
              <a:t>Chi tiết: docs/01_Kien_truc_tong_the.md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ĐIỂM SÁNG TẠO 01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04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3F5F8"/>
                </a:solidFill>
                <a:latin typeface="Segoe UI Semibold"/>
              </a:rPr>
              <a:t>Máy trạm tự "kéo" lệnh — trung tâm không bao giờ "đẩy" lệnh vào máy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939FB8"/>
                </a:solidFill>
                <a:latin typeface="Segoe UI"/>
              </a:rPr>
              <a:t>Đảo ngược mô hình quản trị từ xa truyền thống để loại bỏ rủi ro lan rộng khi trung tâm điều phối bị chiếm quyền.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212080" cy="3566160"/>
          </a:xfrm>
          <a:prstGeom prst="rect">
            <a:avLst/>
          </a:prstGeom>
          <a:solidFill>
            <a:srgbClr val="111C2E"/>
          </a:solidFill>
          <a:ln w="15875">
            <a:solidFill>
              <a:srgbClr val="E55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450592"/>
            <a:ext cx="777240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5146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55353"/>
                </a:solidFill>
                <a:latin typeface="Segoe UI Semibold"/>
              </a:rPr>
              <a:t>✕  MÔ HÌNH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39FB8"/>
                </a:solidFill>
                <a:latin typeface="Segoe UI"/>
              </a:rPr>
              <a:t>(đã loại bỏ)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66344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E55353"/>
                </a:solidFill>
                <a:latin typeface="Segoe UI"/>
              </a:rPr>
              <a:t>›  </a:t>
            </a:r>
            <a:r>
              <a:rPr sz="1250">
                <a:solidFill>
                  <a:srgbClr val="F3F5F8"/>
                </a:solidFill>
                <a:latin typeface="Segoe UI"/>
              </a:rPr>
              <a:t>Phải mở cổng quản trị từ xa (WinRM/PsExec) trên toàn bộ 2.000 máy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E55353"/>
                </a:solidFill>
                <a:latin typeface="Segoe UI"/>
              </a:rPr>
              <a:t>›  </a:t>
            </a:r>
            <a:r>
              <a:rPr sz="1250">
                <a:solidFill>
                  <a:srgbClr val="F3F5F8"/>
                </a:solidFill>
                <a:latin typeface="Segoe UI"/>
              </a:rPr>
              <a:t>Trung tâm điều phối giữ credential thực thi trên cả 2.000 máy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E55353"/>
                </a:solidFill>
                <a:latin typeface="Segoe UI"/>
              </a:rPr>
              <a:t>›  </a:t>
            </a:r>
            <a:r>
              <a:rPr sz="1250">
                <a:solidFill>
                  <a:srgbClr val="F3F5F8"/>
                </a:solidFill>
                <a:latin typeface="Segoe UI"/>
              </a:rPr>
              <a:t>Trung tâm bị chiếm → toàn bộ 2.000 máy bị chiếm theo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E55353"/>
                </a:solidFill>
                <a:latin typeface="Segoe UI"/>
              </a:rPr>
              <a:t>›  </a:t>
            </a:r>
            <a:r>
              <a:rPr sz="1250">
                <a:solidFill>
                  <a:srgbClr val="F3F5F8"/>
                </a:solidFill>
                <a:latin typeface="Segoe UI"/>
              </a:rPr>
              <a:t>Lệnh remote có thể tự cắt chính kênh đang mang nó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286000"/>
            <a:ext cx="5349240" cy="3566160"/>
          </a:xfrm>
          <a:prstGeom prst="rect">
            <a:avLst/>
          </a:prstGeom>
          <a:solidFill>
            <a:srgbClr val="111C2E"/>
          </a:solidFill>
          <a:ln w="15875">
            <a:solidFill>
              <a:srgbClr val="2E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p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450592"/>
            <a:ext cx="777240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2514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EC26B"/>
                </a:solidFill>
                <a:latin typeface="Segoe UI Semibold"/>
              </a:rPr>
              <a:t>✓  MÔ HÌNH PULL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889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39FB8"/>
                </a:solidFill>
                <a:latin typeface="Segoe UI"/>
              </a:rPr>
              <a:t>(đã chọn)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484632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2EC26B"/>
                </a:solidFill>
                <a:latin typeface="Segoe UI"/>
              </a:rPr>
              <a:t>›  </a:t>
            </a:r>
            <a:r>
              <a:rPr sz="1250">
                <a:solidFill>
                  <a:srgbClr val="F3F5F8"/>
                </a:solidFill>
                <a:latin typeface="Segoe UI"/>
              </a:rPr>
              <a:t>Máy trạm tự gọi API hỏi "có việc gì cho tôi không?" mỗi 15 phút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2EC26B"/>
                </a:solidFill>
                <a:latin typeface="Segoe UI"/>
              </a:rPr>
              <a:t>›  </a:t>
            </a:r>
            <a:r>
              <a:rPr sz="1250">
                <a:solidFill>
                  <a:srgbClr val="F3F5F8"/>
                </a:solidFill>
                <a:latin typeface="Segoe UI"/>
              </a:rPr>
              <a:t>Chỉ 1 chiều kết nối ra ngoài — giống hệt Windows Update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2EC26B"/>
                </a:solidFill>
                <a:latin typeface="Segoe UI"/>
              </a:rPr>
              <a:t>›  </a:t>
            </a:r>
            <a:r>
              <a:rPr sz="1250">
                <a:solidFill>
                  <a:srgbClr val="F3F5F8"/>
                </a:solidFill>
                <a:latin typeface="Segoe UI"/>
              </a:rPr>
              <a:t>API bị chiếm cũng chỉ đẩy được script_id đã ký sẵn, không chạy mã tự do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2EC26B"/>
                </a:solidFill>
                <a:latin typeface="Segoe UI"/>
              </a:rPr>
              <a:t>›  </a:t>
            </a:r>
            <a:r>
              <a:rPr sz="1250">
                <a:solidFill>
                  <a:srgbClr val="F3F5F8"/>
                </a:solidFill>
                <a:latin typeface="Segoe UI"/>
              </a:rPr>
              <a:t>Lệnh luôn chạy cục bộ, không phụ thuộc kênh remote đang mở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939FB8"/>
                </a:solidFill>
                <a:latin typeface="Segoe UI"/>
              </a:rPr>
              <a:t>Quyết định kiến trúc quan trọng nhất của toàn hệ thống — docs/01_Kien_truc_tong_the.md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ĐIỂM SÁNG TẠO 02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05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con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86868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144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3F5F8"/>
                </a:solidFill>
                <a:latin typeface="Segoe UI Semibold"/>
              </a:rPr>
              <a:t>AI Agent giải thích "vì sao" — luật ngưỡng quyết định "khi nào"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939FB8"/>
                </a:solidFill>
                <a:latin typeface="Segoe UI"/>
              </a:rPr>
              <a:t>Tách bạch 2 việc khác bản chất: điều gì là bất thường (định lượng, kiểm chứng được) và tại sao nó xảy ra (cần suy luận ngữ cảnh).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3520440" cy="301752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3520440" cy="73152"/>
          </a:xfrm>
          <a:prstGeom prst="rect">
            <a:avLst/>
          </a:prstGeom>
          <a:solidFill>
            <a:srgbClr val="3E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2491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E9BE8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004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3F5F8"/>
                </a:solidFill>
                <a:latin typeface="Segoe UI Semibold"/>
              </a:rPr>
              <a:t>Rule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5760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CPU/RAM/nhiệt độ/SMART vượt ngưỡng đủ lâu (sustained_minutes) → xác nhận có bất thường THẬT</a:t>
            </a:r>
          </a:p>
        </p:txBody>
      </p:sp>
      <p:sp>
        <p:nvSpPr>
          <p:cNvPr id="13" name="Chevron 12"/>
          <p:cNvSpPr/>
          <p:nvPr/>
        </p:nvSpPr>
        <p:spPr>
          <a:xfrm>
            <a:off x="4206240" y="3794760"/>
            <a:ext cx="256032" cy="457200"/>
          </a:xfrm>
          <a:prstGeom prst="chevron">
            <a:avLst/>
          </a:prstGeom>
          <a:solidFill>
            <a:srgbClr val="939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468880"/>
            <a:ext cx="3520440" cy="301752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468880"/>
            <a:ext cx="3520440" cy="73152"/>
          </a:xfrm>
          <a:prstGeom prst="rect">
            <a:avLst/>
          </a:prstGeom>
          <a:solidFill>
            <a:srgbClr val="1FB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72491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FB594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2004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3F5F8"/>
                </a:solidFill>
                <a:latin typeface="Segoe UI Semibold"/>
              </a:rPr>
              <a:t>AI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365760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Chỉ được gọi SAU KHI rule engine xác nhận. Phân tích xu hướng 24h, lịch sử hành động, đề xuất script + độ tin cậy</a:t>
            </a:r>
          </a:p>
        </p:txBody>
      </p:sp>
      <p:sp>
        <p:nvSpPr>
          <p:cNvPr id="19" name="Chevron 18"/>
          <p:cNvSpPr/>
          <p:nvPr/>
        </p:nvSpPr>
        <p:spPr>
          <a:xfrm>
            <a:off x="8001000" y="3794760"/>
            <a:ext cx="256032" cy="457200"/>
          </a:xfrm>
          <a:prstGeom prst="chevron">
            <a:avLst/>
          </a:prstGeom>
          <a:solidFill>
            <a:srgbClr val="939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468880"/>
            <a:ext cx="3520440" cy="301752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468880"/>
            <a:ext cx="3520440" cy="73152"/>
          </a:xfrm>
          <a:prstGeom prst="rect">
            <a:avLst/>
          </a:prstGeom>
          <a:solidFill>
            <a:srgbClr val="2E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272491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2EC26B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32004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3F5F8"/>
                </a:solidFill>
                <a:latin typeface="Segoe UI Semibold"/>
              </a:rPr>
              <a:t>Chính sách cứng phía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65760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Dù AI đề xuất gì, script phải nằm trong allowlist.json và đạt ngưỡng độ tin cậy mới được thực thi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939FB8"/>
                </a:solidFill>
                <a:latin typeface="Segoe UI"/>
              </a:rPr>
              <a:t>Phòng chống tiêm lệnh (prompt injection) qua dữ liệu Event Log — có ca kiểm thử bắt buộc riêng (eval-cases.md #6)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ĐIỂM SÁNG TẠO 03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06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con_ca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86868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144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3F5F8"/>
                </a:solidFill>
                <a:latin typeface="Segoe UI Semibold"/>
              </a:rPr>
              <a:t>Tự động hoá phải "đi bộ trước khi chạy"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939FB8"/>
                </a:solidFill>
                <a:latin typeface="Segoe UI"/>
              </a:rPr>
              <a:t>Không script nào được tự động hoá cho 2.000 máy ngay từ ngày đầu — phải chứng minh an toàn qua từng bước.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2606040" cy="2377440"/>
          </a:xfrm>
          <a:prstGeom prst="rect">
            <a:avLst/>
          </a:prstGeom>
          <a:solidFill>
            <a:srgbClr val="111C2E"/>
          </a:solidFill>
          <a:ln w="12700">
            <a:solidFill>
              <a:srgbClr val="F2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6517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2B02E"/>
                </a:solidFill>
                <a:latin typeface="Segoe UI Semibold"/>
              </a:rPr>
              <a:t>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175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3F5F8"/>
                </a:solidFill>
                <a:latin typeface="Segoe UI Semibold"/>
              </a:rPr>
              <a:t>Người duyệt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611880"/>
            <a:ext cx="2240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IT duyệt từng đề xuất, đo tỷ lệ đúng/sai thực tế</a:t>
            </a:r>
          </a:p>
        </p:txBody>
      </p:sp>
      <p:sp>
        <p:nvSpPr>
          <p:cNvPr id="12" name="Chevron 11"/>
          <p:cNvSpPr/>
          <p:nvPr/>
        </p:nvSpPr>
        <p:spPr>
          <a:xfrm>
            <a:off x="3264408" y="3429000"/>
            <a:ext cx="256032" cy="457200"/>
          </a:xfrm>
          <a:prstGeom prst="chevron">
            <a:avLst/>
          </a:prstGeom>
          <a:solidFill>
            <a:srgbClr val="939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8728" y="2468880"/>
            <a:ext cx="2606040" cy="2377440"/>
          </a:xfrm>
          <a:prstGeom prst="rect">
            <a:avLst/>
          </a:prstGeom>
          <a:solidFill>
            <a:srgbClr val="111C2E"/>
          </a:solidFill>
          <a:ln w="12700">
            <a:solidFill>
              <a:srgbClr val="3E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26517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E9BE8"/>
                </a:solidFill>
                <a:latin typeface="Segoe UI Semibold"/>
              </a:rPr>
              <a:t>V5.1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30175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3F5F8"/>
                </a:solidFill>
                <a:latin typeface="Segoe UI Semibold"/>
              </a:rPr>
              <a:t>Canary 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3611880"/>
            <a:ext cx="2240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~20 máy, theo dõi 24 giờ</a:t>
            </a:r>
          </a:p>
        </p:txBody>
      </p:sp>
      <p:sp>
        <p:nvSpPr>
          <p:cNvPr id="17" name="Chevron 16"/>
          <p:cNvSpPr/>
          <p:nvPr/>
        </p:nvSpPr>
        <p:spPr>
          <a:xfrm>
            <a:off x="6163056" y="3429000"/>
            <a:ext cx="256032" cy="457200"/>
          </a:xfrm>
          <a:prstGeom prst="chevron">
            <a:avLst/>
          </a:prstGeom>
          <a:solidFill>
            <a:srgbClr val="939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376" y="2468880"/>
            <a:ext cx="2606040" cy="2377440"/>
          </a:xfrm>
          <a:prstGeom prst="rect">
            <a:avLst/>
          </a:prstGeom>
          <a:solidFill>
            <a:srgbClr val="111C2E"/>
          </a:solidFill>
          <a:ln w="12700">
            <a:solidFill>
              <a:srgbClr val="3E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26517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E9BE8"/>
                </a:solidFill>
                <a:latin typeface="Segoe UI Semibold"/>
              </a:rPr>
              <a:t>V5.2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30175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3F5F8"/>
                </a:solidFill>
                <a:latin typeface="Segoe UI Semibold"/>
              </a:rPr>
              <a:t>Canary 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3611880"/>
            <a:ext cx="2240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~200 máy, chỉ tiếp tục nếu lỗi &lt; 1%</a:t>
            </a:r>
          </a:p>
        </p:txBody>
      </p:sp>
      <p:sp>
        <p:nvSpPr>
          <p:cNvPr id="22" name="Chevron 21"/>
          <p:cNvSpPr/>
          <p:nvPr/>
        </p:nvSpPr>
        <p:spPr>
          <a:xfrm>
            <a:off x="9061704" y="3429000"/>
            <a:ext cx="256032" cy="457200"/>
          </a:xfrm>
          <a:prstGeom prst="chevron">
            <a:avLst/>
          </a:prstGeom>
          <a:solidFill>
            <a:srgbClr val="939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36024" y="2468880"/>
            <a:ext cx="2606040" cy="2377440"/>
          </a:xfrm>
          <a:prstGeom prst="rect">
            <a:avLst/>
          </a:prstGeom>
          <a:solidFill>
            <a:srgbClr val="111C2E"/>
          </a:solidFill>
          <a:ln w="12700">
            <a:solidFill>
              <a:srgbClr val="2E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18904" y="26517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C26B"/>
                </a:solidFill>
                <a:latin typeface="Segoe UI Semibold"/>
              </a:rPr>
              <a:t>V5.3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30175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3F5F8"/>
                </a:solidFill>
                <a:latin typeface="Segoe UI Semibold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4" y="3611880"/>
            <a:ext cx="2240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Toàn bộ 2.000 máy, giám sát liên tục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120640"/>
            <a:ext cx="10881360" cy="868680"/>
          </a:xfrm>
          <a:prstGeom prst="rect">
            <a:avLst/>
          </a:prstGeom>
          <a:solidFill>
            <a:srgbClr val="111C2E"/>
          </a:solidFill>
          <a:ln w="12700">
            <a:solidFill>
              <a:srgbClr val="E55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85232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F3F5F8"/>
                </a:solidFill>
                <a:latin typeface="Segoe UI"/>
              </a:rPr>
              <a:t>⚠  Phanh khẩn cấp: tỷ lệ lỗi vượt 2% ở bất kỳ bước nào → hệ thống TỰ ĐỘNG dừng rollout và báo IT, không cần người canh liên tục.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ĐIỂM SÁNG TẠO 04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07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con_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86868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144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F3F5F8"/>
                </a:solidFill>
                <a:latin typeface="Segoe UI Semibold"/>
              </a:rPr>
              <a:t>Trợ lý AI trả lời trong kênh chat nội bộ — tư vấn, không bao giờ tự hành động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939FB8"/>
                </a:solidFill>
                <a:latin typeface="Segoe UI"/>
              </a:rPr>
              <a:t>Kênh thứ 2 độc lập với luồng giám sát/xử lý tự động — nhân viên và IT hỏi trực tiếp trên netchat, được trả lời dựa trên tài liệu nội bộ đã duyệt.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3520440" cy="320040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3520440" cy="73152"/>
          </a:xfrm>
          <a:prstGeom prst="rect">
            <a:avLst/>
          </a:prstGeom>
          <a:solidFill>
            <a:srgbClr val="3E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24912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3E9BE8"/>
                </a:solidFill>
                <a:latin typeface="Segoe UI Semibold"/>
              </a:rPr>
              <a:t>Vai trò tách biệt hoàn toàn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2044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Không đọc dữ liệu máy sống, không kích hoạt hành động — chỉ tra cứu tài liệu hướng dẫn (knowledge/) đã được duyệt trước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468880"/>
            <a:ext cx="3520440" cy="320040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468880"/>
            <a:ext cx="3520440" cy="73152"/>
          </a:xfrm>
          <a:prstGeom prst="rect">
            <a:avLst/>
          </a:prstGeom>
          <a:solidFill>
            <a:srgbClr val="1FB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724912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FB594"/>
                </a:solidFill>
                <a:latin typeface="Segoe UI Semibold"/>
              </a:rPr>
              <a:t>Lọc nội dung theo đối tượng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52044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Nhân viên thường và nhân viên IT hỏi cùng câu hỏi được trả lời KHÁC nhau — phần nội dung nội bộ IT bị lọc bỏ NGAY Ở PHÍA SERVER trước khi tới AI, không phụ thuộc AI "tự biết giữ bí mật"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468880"/>
            <a:ext cx="3520440" cy="320040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468880"/>
            <a:ext cx="3520440" cy="73152"/>
          </a:xfrm>
          <a:prstGeom prst="rect">
            <a:avLst/>
          </a:prstGeom>
          <a:solidFill>
            <a:srgbClr val="2E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724912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2EC26B"/>
                </a:solidFill>
                <a:latin typeface="Segoe UI Semibold"/>
              </a:rPr>
              <a:t>Chống dữ liệu giả mạo từ người dùng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352044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Người chat là con người thật nên có thể cố tình nhập câu lệnh đánh lừa AI (prompt injection) — đã có system prompt phòng thủ riêng cho vai trò này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939FB8"/>
                </a:solidFill>
                <a:latin typeface="Segoe UI"/>
              </a:rPr>
              <a:t>Chưa kết nối dữ liệu máy sống theo khu vực (giai đoạn tiếp theo) — docs/09_Luong5_TroLyNetchat.md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ĐIỂM SÁNG TẠO 05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08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con_tool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86868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144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3F5F8"/>
                </a:solidFill>
                <a:latin typeface="Segoe UI Semibold"/>
              </a:rPr>
              <a:t>Danh mục xử lý tự động mở rộng 7 → 18 thao tác, tự cập nhật không cần đụng tay từng máy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212080" cy="4160520"/>
          </a:xfrm>
          <a:prstGeom prst="rect">
            <a:avLst/>
          </a:prstGeom>
          <a:solidFill>
            <a:srgbClr val="111C2E"/>
          </a:solidFill>
          <a:ln w="13970">
            <a:solidFill>
              <a:srgbClr val="F2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B02E"/>
                </a:solidFill>
                <a:latin typeface="Segoe UI Semibold"/>
              </a:rPr>
              <a:t>18 THAO TÁC ĐÃ CHUẨN HOÁ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617720" cy="3291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F2B02E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7 thao tác rủi ro thấp: tự thực thi không cần duyệt (dọn temp, flush DNS, khởi động lại dịch vụ treo...)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F2B02E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11 thao tác thêm mới: reset Winsock, sửa Windows Update, đồng bộ giờ hệ thống, khôi phục health Windows (DISM)...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F2B02E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Mỗi thao tác đều có script PowerShell thật, đã kiểm tra cú pháp, nằm trong allowlist.json — không có "thao tác giấy"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349240" cy="4160520"/>
          </a:xfrm>
          <a:prstGeom prst="rect">
            <a:avLst/>
          </a:prstGeom>
          <a:solidFill>
            <a:srgbClr val="111C2E"/>
          </a:solidFill>
          <a:ln w="13970">
            <a:solidFill>
              <a:srgbClr val="2E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0"/>
            <a:ext cx="594360" cy="594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2057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EC26B"/>
                </a:solidFill>
                <a:latin typeface="Segoe UI Semibold"/>
              </a:rPr>
              <a:t>CƠ CHẾ TỰ CẬP NHẬT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4846320" cy="2103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2EC26B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Máy trạm tự hỏi server có bản mới không — không ai phải remote vào từng máy để nâng cấp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2EC26B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Rollout theo tỷ lệ % (canary) — không nâng cấp toàn bộ 2.000 máy cùng lúc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2EC26B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Tự sao lưu bản cũ, tự khôi phục nếu bản mới lỗi (rollback tự động)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4709160"/>
            <a:ext cx="4800600" cy="1188720"/>
          </a:xfrm>
          <a:prstGeom prst="rect">
            <a:avLst/>
          </a:prstGeom>
          <a:solidFill>
            <a:srgbClr val="0B131F"/>
          </a:solidFill>
          <a:ln w="12700">
            <a:solidFill>
              <a:srgbClr val="E55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828032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F3F5F8"/>
                </a:solidFill>
                <a:latin typeface="Segoe UI"/>
              </a:rPr>
              <a:t>⚠  Cảnh báo bảo mật CHƯA khắc phục: gói cập nhật hiện chỉ kiểm tra bằng SHA-256 (chống lỗi truyền file), CHƯA có chữ ký số — chưa đủ an toàn để bật tự động 100% trong môi trường thật. Cần bổ sung ký số trước khi dùng thật.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939FB8"/>
                </a:solidFill>
                <a:latin typeface="Segoe UI"/>
              </a:rPr>
              <a:t>client/Update-HealthAgent.ps1 · config/agent_version.json (cảnh_bao_bao_mat) — đã chạy thử thật, chưa dùng thật cho 2.000 máy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AN TOÀN BẢO MẬT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09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86868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144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3F5F8"/>
                </a:solidFill>
                <a:latin typeface="Segoe UI Semibold"/>
              </a:rPr>
              <a:t>5 lớp phòng vệ — không có lớp nào là "đủ" một mình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28016" cy="777240"/>
          </a:xfrm>
          <a:prstGeom prst="rect">
            <a:avLst/>
          </a:prstGeom>
          <a:solidFill>
            <a:srgbClr val="3E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74903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3F5F8"/>
                </a:solidFill>
                <a:latin typeface="Segoe UI Semibold"/>
              </a:rPr>
              <a:t>Xác thực theo nhóm máy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37360"/>
            <a:ext cx="6675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Mỗi OU 1 API key riêng, so sánh hằng thời gian (chống timing attack), lộ trình nâng cấp mTLS chứng chỉ máy tính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06039"/>
            <a:ext cx="128016" cy="777240"/>
          </a:xfrm>
          <a:prstGeom prst="rect">
            <a:avLst/>
          </a:prstGeom>
          <a:solidFill>
            <a:srgbClr val="3E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39"/>
            <a:ext cx="374903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3F5F8"/>
                </a:solidFill>
                <a:latin typeface="Segoe UI Semibold"/>
              </a:rPr>
              <a:t>Không phơi hạ tầng ra 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06039"/>
            <a:ext cx="6675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Toàn bộ cổng chỉ bind 127.0.0.1; n8n/Grafana UI chỉ qua mạng nội bộ hoặc VPN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128016" cy="777240"/>
          </a:xfrm>
          <a:prstGeom prst="rect">
            <a:avLst/>
          </a:prstGeom>
          <a:solidFill>
            <a:srgbClr val="1FB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374903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3F5F8"/>
                </a:solidFill>
                <a:latin typeface="Segoe UI Semibold"/>
              </a:rPr>
              <a:t>Quyền tối thiểu cho tự động hoá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74720"/>
            <a:ext cx="6675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Tài khoản n8n chỉ đọc dữ liệu tổng hợp + ghi hàng đợi giới hạn theo allowlist — không giữ credential domain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128016" cy="777240"/>
          </a:xfrm>
          <a:prstGeom prst="rect">
            <a:avLst/>
          </a:prstGeom>
          <a:solidFill>
            <a:srgbClr val="1FB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374903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3F5F8"/>
                </a:solidFill>
                <a:latin typeface="Segoe UI Semibold"/>
              </a:rPr>
              <a:t>Nhật ký đầy đủ mọi hành động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343400"/>
            <a:ext cx="6675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Mọi request, mọi lệnh tự động thực thi, mọi input/output của AI đều được ghi lại phục vụ hậu kiểm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12080"/>
            <a:ext cx="128016" cy="777240"/>
          </a:xfrm>
          <a:prstGeom prst="rect">
            <a:avLst/>
          </a:prstGeom>
          <a:solidFill>
            <a:srgbClr val="E5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374903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3F5F8"/>
                </a:solidFill>
                <a:latin typeface="Segoe UI Semibold"/>
              </a:rPr>
              <a:t>Danh mục cấm tuyệt đối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212080"/>
            <a:ext cx="6675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Xoá dữ liệu người dùng, sửa Registry/AD/GPO, tắt phần mềm bảo mật, PowerShell tự do — các hành động này KHÔNG TỒN TẠI trong hệ thống, không phải "bị chặn" mà là chưa từng được viết 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939FB8"/>
                </a:solidFill>
                <a:latin typeface="Segoe UI"/>
              </a:rPr>
              <a:t>Chi tiết đầy đủ: docs/03_Bao_mat.md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PHÂN QUYỀN KHU VỰC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10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con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86868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144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3F5F8"/>
                </a:solidFill>
                <a:latin typeface="Segoe UI Semibold"/>
              </a:rPr>
              <a:t>IT từng khu vực chỉ thấy đúng khu vực mình — đã kiểm chứng chặn thật, không chỉ ẩn giao diện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39FB8"/>
                </a:solidFill>
                <a:latin typeface="Segoe UI"/>
              </a:rPr>
              <a:t>IT-KCQ (khối cơ quan) xem toàn công ty + từng khu vực riêng lẻ. IT-KV1/KV2/KV3 chỉ xem đúng khu vực của mình.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5120640" cy="324612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B594"/>
                </a:solidFill>
                <a:latin typeface="Segoe UI Semibold"/>
              </a:rPr>
              <a:t>CƠ CHẾ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457200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FB594"/>
                </a:solidFill>
                <a:latin typeface="Segoe UI"/>
              </a:rPr>
              <a:t>›  </a:t>
            </a:r>
            <a:r>
              <a:rPr sz="1150">
                <a:solidFill>
                  <a:srgbClr val="F3F5F8"/>
                </a:solidFill>
                <a:latin typeface="Segoe UI"/>
              </a:rPr>
              <a:t>Mỗi khu vực có bộ dashboard riêng (folder riêng trong Grafana), gán quyền xem theo Team — đây là chặn quyền thật của Grafana, không phải bộ lọc tiện xem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FB594"/>
                </a:solidFill>
                <a:latin typeface="Segoe UI"/>
              </a:rPr>
              <a:t>›  </a:t>
            </a:r>
            <a:r>
              <a:rPr sz="1150">
                <a:solidFill>
                  <a:srgbClr val="F3F5F8"/>
                </a:solidFill>
                <a:latin typeface="Segoe UI"/>
              </a:rPr>
              <a:t>Thêm IT mới: tạo tài khoản Viewer + thêm vào đúng Team — không cần sửa cấu hình dashboard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FB594"/>
                </a:solidFill>
                <a:latin typeface="Segoe UI"/>
              </a:rPr>
              <a:t>›  </a:t>
            </a:r>
            <a:r>
              <a:rPr sz="1150">
                <a:solidFill>
                  <a:srgbClr val="F3F5F8"/>
                </a:solidFill>
                <a:latin typeface="Segoe UI"/>
              </a:rPr>
              <a:t>config/regions.json quyết định máy nào thuộc khu vực nào (khớp theo OU) — cần đối chiếu lại với OU thật trước khi dùng thật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2148840"/>
            <a:ext cx="5532120" cy="3246120"/>
          </a:xfrm>
          <a:prstGeom prst="rect">
            <a:avLst/>
          </a:prstGeom>
          <a:solidFill>
            <a:srgbClr val="111C2E"/>
          </a:solidFill>
          <a:ln w="12700">
            <a:solidFill>
              <a:srgbClr val="2E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3317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EC26B"/>
                </a:solidFill>
                <a:latin typeface="Segoe UI Semibold"/>
              </a:rPr>
              <a:t>ĐÃ KIỂM CHỨNG THẬT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743200"/>
            <a:ext cx="502920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2EC26B"/>
                </a:solidFill>
                <a:latin typeface="Segoe UI"/>
              </a:rPr>
              <a:t>›  </a:t>
            </a:r>
            <a:r>
              <a:rPr sz="1150">
                <a:solidFill>
                  <a:srgbClr val="F3F5F8"/>
                </a:solidFill>
                <a:latin typeface="Segoe UI"/>
              </a:rPr>
              <a:t>Tài khoản test-kv1 bị Grafana trả về 403 Access denied khi cố mở dashboard KV2 bằng URL trực tiếp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2EC26B"/>
                </a:solidFill>
                <a:latin typeface="Segoe UI"/>
              </a:rPr>
              <a:t>›  </a:t>
            </a:r>
            <a:r>
              <a:rPr sz="1150">
                <a:solidFill>
                  <a:srgbClr val="F3F5F8"/>
                </a:solidFill>
                <a:latin typeface="Segoe UI"/>
              </a:rPr>
              <a:t>Tài khoản test-kcq xem được đủ 5 bộ dashboard (toàn công ty + 4 khu vực)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2EC26B"/>
                </a:solidFill>
                <a:latin typeface="Segoe UI"/>
              </a:rPr>
              <a:t>›  </a:t>
            </a:r>
            <a:r>
              <a:rPr sz="1150">
                <a:solidFill>
                  <a:srgbClr val="F3F5F8"/>
                </a:solidFill>
                <a:latin typeface="Segoe UI"/>
              </a:rPr>
              <a:t>Còn thiếu trước khi dùng thật: kết nối LDAP/AD thật + mở mạng nội bộ cho Grafana (hiện chỉ nghe localhost để tránh lộ lúc demo)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939FB8"/>
                </a:solidFill>
                <a:latin typeface="Segoe UI"/>
              </a:rPr>
              <a:t>Chi tiết + việc cần làm trước triển khai thật: docs/10_PhanQuyen_KhuVuc.md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BẰNG CHỨNG VẬN HÀNH THẬT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11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3F5F8"/>
                </a:solidFill>
                <a:latin typeface="Segoe UI Semibold"/>
              </a:rPr>
              <a:t>Số liệu trích xuất trực tiếp từ hệ thống đang chạy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39FB8"/>
                </a:solidFill>
                <a:latin typeface="Segoe UI"/>
              </a:rPr>
              <a:t>Không phải số liệu minh hoạ — lấy trực tiếp qua API Grafana/InfluxDB thật lúc lập báo cáo (15/08/2026).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2514600" cy="141732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54864" cy="1417320"/>
          </a:xfrm>
          <a:prstGeom prst="rect">
            <a:avLst/>
          </a:prstGeom>
          <a:solidFill>
            <a:srgbClr val="3E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76856"/>
            <a:ext cx="2148840" cy="779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3E9BE8"/>
                </a:solidFill>
                <a:latin typeface="Segoe UI Semibold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Tổng số máy trong hệ thống thử nghiệm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148840"/>
            <a:ext cx="2514600" cy="141732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148840"/>
            <a:ext cx="54864" cy="1417320"/>
          </a:xfrm>
          <a:prstGeom prst="rect">
            <a:avLst/>
          </a:prstGeom>
          <a:solidFill>
            <a:srgbClr val="E5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276856"/>
            <a:ext cx="2148840" cy="779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55353"/>
                </a:solidFill>
                <a:latin typeface="Segoe UI Semibold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1089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Sự cố cao/nguy hiểm ghi nhận trong 24h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148840"/>
            <a:ext cx="2514600" cy="141732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2148840"/>
            <a:ext cx="54864" cy="1417320"/>
          </a:xfrm>
          <a:prstGeom prst="rect">
            <a:avLst/>
          </a:prstGeom>
          <a:solidFill>
            <a:srgbClr val="2E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276856"/>
            <a:ext cx="2148840" cy="779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EC26B"/>
                </a:solidFill>
                <a:latin typeface="Segoe UI Semibold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1089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Ổ đĩa lỗi SMART hiện tại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2148840"/>
            <a:ext cx="2514600" cy="141732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2148840"/>
            <a:ext cx="54864" cy="1417320"/>
          </a:xfrm>
          <a:prstGeom prst="rect">
            <a:avLst/>
          </a:prstGeom>
          <a:solidFill>
            <a:srgbClr val="F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276856"/>
            <a:ext cx="2148840" cy="779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08A5C"/>
                </a:solidFill>
                <a:latin typeface="Segoe UI Semibold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1089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Máy đang có lỗi Event Log 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3F5F8"/>
                </a:solidFill>
                <a:latin typeface="Segoe UI Semibold"/>
              </a:rPr>
              <a:t>Phân bố mức độ hiện tại (trạng thái mới nhất từng máy)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206240"/>
            <a:ext cx="10881360" cy="141732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videnc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4279392"/>
            <a:ext cx="3048000" cy="12801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0080" y="57150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CPU trung bình 25% · nhiệt độ cao nhất 55°C  ·  RAM trung bình 40%  ·  Ổ đĩa còn trống trung bình 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939FB8"/>
                </a:solidFill>
                <a:latin typeface="Segoe UI"/>
              </a:rPr>
              <a:t>Nguồn: Grafana dashboard "Tổng quan" — pchealth-tongquan, InfluxDB bucket pchealth_metrics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KẾT QUẢ KIỂM THỬ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12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3F5F8"/>
                </a:solidFill>
                <a:latin typeface="Segoe UI Semibold"/>
              </a:rPr>
              <a:t>Kiểm thử khép kín 10 máy — 5 kịch bản sự cố thực tế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91440" cy="621792"/>
          </a:xfrm>
          <a:prstGeom prst="rect">
            <a:avLst/>
          </a:prstGeom>
          <a:solidFill>
            <a:srgbClr val="E5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657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3F5F8"/>
                </a:solidFill>
                <a:latin typeface="Segoe UI Semibold"/>
              </a:rPr>
              <a:t>Nhiệt độ CPU vượt ngưỡng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737360"/>
            <a:ext cx="6720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Cảnh báo đúng mức nguy hiểm, đúng ngưỡng 95°C từ LibreHardwareMonitor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50591"/>
            <a:ext cx="91440" cy="621792"/>
          </a:xfrm>
          <a:prstGeom prst="rect">
            <a:avLst/>
          </a:prstGeom>
          <a:solidFill>
            <a:srgbClr val="F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50591"/>
            <a:ext cx="3657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3F5F8"/>
                </a:solidFill>
                <a:latin typeface="Segoe UI Semibold"/>
              </a:rPr>
              <a:t>Lỗi I/O ổ đĩa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450591"/>
            <a:ext cx="6720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Phát hiện qua Windows Event Log thật (Event ID driver storahci/stornvme)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63824"/>
            <a:ext cx="91440" cy="621792"/>
          </a:xfrm>
          <a:prstGeom prst="rect">
            <a:avLst/>
          </a:prstGeom>
          <a:solidFill>
            <a:srgbClr val="F2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63824"/>
            <a:ext cx="3657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3F5F8"/>
                </a:solidFill>
                <a:latin typeface="Segoe UI Semibold"/>
              </a:rPr>
              <a:t>Ổ C còn 5% dung lượng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163824"/>
            <a:ext cx="6720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Rule Engine → AI đề xuất → tự động dọn dẹp qua hàng đợi lệnh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77056"/>
            <a:ext cx="91440" cy="621792"/>
          </a:xfrm>
          <a:prstGeom prst="rect">
            <a:avLst/>
          </a:prstGeom>
          <a:solidFill>
            <a:srgbClr val="3E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3657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3F5F8"/>
                </a:solidFill>
                <a:latin typeface="Segoe UI Semibold"/>
              </a:rPr>
              <a:t>RAM cao liên tục (sustained)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877056"/>
            <a:ext cx="6720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Chỉ cảnh báo sau khi vượt ngưỡng ĐỦ LÂU — không báo động vì 1 lần tăng đột biến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90288"/>
            <a:ext cx="91440" cy="621792"/>
          </a:xfrm>
          <a:prstGeom prst="rect">
            <a:avLst/>
          </a:prstGeom>
          <a:solidFill>
            <a:srgbClr val="1FB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3657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3F5F8"/>
                </a:solidFill>
                <a:latin typeface="Segoe UI Semibold"/>
              </a:rPr>
              <a:t>Nguy cơ lỗi Windows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590288"/>
            <a:ext cx="6720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9FB8"/>
                </a:solidFill>
                <a:latin typeface="Segoe UI"/>
              </a:rPr>
              <a:t>Đếm lỗi Event Log 1 giờ qua, định tuyến đúng kênh thông báo theo mức độ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solidFill>
            <a:srgbClr val="111C2E"/>
          </a:solidFill>
          <a:ln w="12700">
            <a:solidFill>
              <a:srgbClr val="2E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33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3F5F8"/>
                </a:solidFill>
                <a:latin typeface="Segoe UI"/>
              </a:rPr>
              <a:t>✓  Lỗi webhook n8n từng ghi nhận ở lần kiểm thử trước ĐÃ ĐƯỢC SỬA và kiểm chứng lại thật (nâng cấp n8n + vá lỗi phân quyền workflow nội bộ).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939FB8"/>
                </a:solidFill>
                <a:latin typeface="Segoe UI"/>
              </a:rPr>
              <a:t>Chạy chu trình khép kín thật qua toàn bộ pipeline: Client → API → Rule Engine → n8n → AI Agent → hàng đợi lệnh →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LỘ TRÌNH TRIỂN KHAI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13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3F5F8"/>
                </a:solidFill>
                <a:latin typeface="Segoe UI Semibold"/>
              </a:rPr>
              <a:t>5 giai đoạn — không triển khai 2.000 máy trong 1 lần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2926080"/>
            <a:ext cx="10149840" cy="0"/>
          </a:xfrm>
          <a:prstGeom prst="line">
            <a:avLst/>
          </a:prstGeom>
          <a:ln w="254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554480" y="2788920"/>
            <a:ext cx="274320" cy="274320"/>
          </a:xfrm>
          <a:prstGeom prst="ellipse">
            <a:avLst/>
          </a:prstGeom>
          <a:solidFill>
            <a:srgbClr val="3E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210312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3F5F8"/>
                </a:solidFill>
                <a:latin typeface="Segoe UI Semibold"/>
              </a:rPr>
              <a:t>Chuẩn bị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3E9BE8"/>
                </a:solidFill>
                <a:latin typeface="Segoe UI Semibold"/>
              </a:rPr>
              <a:t>G0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1 tuần</a:t>
            </a:r>
          </a:p>
        </p:txBody>
      </p:sp>
      <p:sp>
        <p:nvSpPr>
          <p:cNvPr id="11" name="Oval 10"/>
          <p:cNvSpPr/>
          <p:nvPr/>
        </p:nvSpPr>
        <p:spPr>
          <a:xfrm>
            <a:off x="3831335" y="2788920"/>
            <a:ext cx="274320" cy="274320"/>
          </a:xfrm>
          <a:prstGeom prst="ellipse">
            <a:avLst/>
          </a:prstGeom>
          <a:solidFill>
            <a:srgbClr val="3E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5" y="1874520"/>
            <a:ext cx="210312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3F5F8"/>
                </a:solidFill>
                <a:latin typeface="Segoe UI Semibold"/>
              </a:rPr>
              <a:t>Canary nội bộ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3F5F8"/>
                </a:solidFill>
                <a:latin typeface="Segoe UI Semibold"/>
              </a:rPr>
              <a:t>20-50 máy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5" y="32004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3E9BE8"/>
                </a:solidFill>
                <a:latin typeface="Segoe UI Semibold"/>
              </a:rPr>
              <a:t>G1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5" y="35204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1-2 tuần</a:t>
            </a:r>
          </a:p>
        </p:txBody>
      </p:sp>
      <p:sp>
        <p:nvSpPr>
          <p:cNvPr id="15" name="Oval 14"/>
          <p:cNvSpPr/>
          <p:nvPr/>
        </p:nvSpPr>
        <p:spPr>
          <a:xfrm>
            <a:off x="6108192" y="2788920"/>
            <a:ext cx="274320" cy="274320"/>
          </a:xfrm>
          <a:prstGeom prst="ellipse">
            <a:avLst/>
          </a:prstGeom>
          <a:solidFill>
            <a:srgbClr val="1FB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1874520"/>
            <a:ext cx="210312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3F5F8"/>
                </a:solidFill>
                <a:latin typeface="Segoe UI Semibold"/>
              </a:rPr>
              <a:t>Mở rộng theo đợt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3F5F8"/>
                </a:solidFill>
                <a:latin typeface="Segoe UI Semibold"/>
              </a:rPr>
              <a:t>10%→50%→100%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32004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FB594"/>
                </a:solidFill>
                <a:latin typeface="Segoe UI Semibold"/>
              </a:rPr>
              <a:t>G2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35204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2-4 tuần</a:t>
            </a:r>
          </a:p>
        </p:txBody>
      </p:sp>
      <p:sp>
        <p:nvSpPr>
          <p:cNvPr id="19" name="Oval 18"/>
          <p:cNvSpPr/>
          <p:nvPr/>
        </p:nvSpPr>
        <p:spPr>
          <a:xfrm>
            <a:off x="8385048" y="2788920"/>
            <a:ext cx="274320" cy="274320"/>
          </a:xfrm>
          <a:prstGeom prst="ellipse">
            <a:avLst/>
          </a:prstGeom>
          <a:solidFill>
            <a:srgbClr val="F2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1874520"/>
            <a:ext cx="210312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3F5F8"/>
                </a:solidFill>
                <a:latin typeface="Segoe UI Semibold"/>
              </a:rPr>
              <a:t>Người duyệt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3F5F8"/>
                </a:solidFill>
                <a:latin typeface="Segoe UI Semibold"/>
              </a:rPr>
              <a:t>(Human-in-the-loop)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32004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2B02E"/>
                </a:solidFill>
                <a:latin typeface="Segoe UI Semibold"/>
              </a:rPr>
              <a:t>G3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35204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2-4 tuần</a:t>
            </a:r>
          </a:p>
        </p:txBody>
      </p:sp>
      <p:sp>
        <p:nvSpPr>
          <p:cNvPr id="23" name="Oval 22"/>
          <p:cNvSpPr/>
          <p:nvPr/>
        </p:nvSpPr>
        <p:spPr>
          <a:xfrm>
            <a:off x="10661904" y="2788920"/>
            <a:ext cx="274320" cy="274320"/>
          </a:xfrm>
          <a:prstGeom prst="ellipse">
            <a:avLst/>
          </a:prstGeom>
          <a:solidFill>
            <a:srgbClr val="2E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7504" y="1874520"/>
            <a:ext cx="210312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3F5F8"/>
                </a:solidFill>
                <a:latin typeface="Segoe UI Semibold"/>
              </a:rPr>
              <a:t>Tự động hoá canary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3F5F8"/>
                </a:solidFill>
                <a:latin typeface="Segoe UI Semibold"/>
              </a:rPr>
              <a:t>1%→10%→100%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32004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C26B"/>
                </a:solidFill>
                <a:latin typeface="Segoe UI Semibold"/>
              </a:rPr>
              <a:t>G4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4" y="35204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Liên tục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663440"/>
            <a:ext cx="10881360" cy="1554480"/>
          </a:xfrm>
          <a:prstGeom prst="rect">
            <a:avLst/>
          </a:prstGeom>
          <a:solidFill>
            <a:srgbClr val="111C2E"/>
          </a:solidFill>
          <a:ln w="9525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28032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939FB8"/>
                </a:solidFill>
                <a:latin typeface="Segoe UI"/>
              </a:rPr>
              <a:t>Nguyên tắc xuyên suốt: mỗi giai đoạn có tiêu chí Go/No-Go rõ ràng; tự động hoá chỉ được bật SAU KHI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939FB8"/>
                </a:solidFill>
                <a:latin typeface="Segoe UI"/>
              </a:rPr>
              <a:t>đã chứng minh an toàn qua giai đoạn Người duyệt; có phanh khẩn cấp tự dừng khi tỷ lệ lỗi vượt ngưỡng.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939FB8"/>
                </a:solidFill>
                <a:latin typeface="Segoe UI"/>
              </a:rPr>
              <a:t>Trước G1 ở chi nhánh: cần LDAP/AD thật + mở mạng nội bộ cho Grafana (xem slide 10).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HẠ TẦNG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14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3F5F8"/>
                </a:solidFill>
                <a:latin typeface="Segoe UI Semibold"/>
              </a:rPr>
              <a:t>Sizing hạ tầng cho 2.000 máy — tải hệ thống rất nhẹ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606040" cy="3291840"/>
          </a:xfrm>
          <a:prstGeom prst="rect">
            <a:avLst/>
          </a:prstGeom>
          <a:solidFill>
            <a:srgbClr val="111C2E"/>
          </a:solidFill>
          <a:ln w="12700">
            <a:solidFill>
              <a:srgbClr val="3E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606040" cy="73152"/>
          </a:xfrm>
          <a:prstGeom prst="rect">
            <a:avLst/>
          </a:prstGeom>
          <a:solidFill>
            <a:srgbClr val="3E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945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3F5F8"/>
                </a:solidFill>
                <a:latin typeface="Segoe UI Semibold"/>
              </a:rPr>
              <a:t>API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3F5F8"/>
                </a:solidFill>
                <a:latin typeface="Segoe UI Semibold"/>
              </a:rPr>
              <a:t>(FastAPI)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01752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E9BE8"/>
                </a:solidFill>
                <a:latin typeface="Segoe UI Semibold"/>
              </a:rPr>
              <a:t>2 vCPU / 4GB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5204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2-3 replica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1148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≈4,5 request/giây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trung bình toàn hệ thống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1" y="1920240"/>
            <a:ext cx="2606040" cy="3291840"/>
          </a:xfrm>
          <a:prstGeom prst="rect">
            <a:avLst/>
          </a:prstGeom>
          <a:solidFill>
            <a:srgbClr val="111C2E"/>
          </a:solidFill>
          <a:ln w="12700">
            <a:solidFill>
              <a:srgbClr val="1FB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1" y="1920240"/>
            <a:ext cx="2606040" cy="73152"/>
          </a:xfrm>
          <a:prstGeom prst="rect">
            <a:avLst/>
          </a:prstGeom>
          <a:solidFill>
            <a:srgbClr val="1FB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21945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3F5F8"/>
                </a:solidFill>
                <a:latin typeface="Segoe UI Semibold"/>
              </a:rPr>
              <a:t>InfluxDB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301752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FB594"/>
                </a:solidFill>
                <a:latin typeface="Segoe UI Semibold"/>
              </a:rPr>
              <a:t>4 vCPU / 8GB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35204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SSD, 90 ngày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41148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≈80.000 điểm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dữ liệu/giờ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1920240"/>
            <a:ext cx="2606040" cy="3291840"/>
          </a:xfrm>
          <a:prstGeom prst="rect">
            <a:avLst/>
          </a:prstGeom>
          <a:solidFill>
            <a:srgbClr val="111C2E"/>
          </a:solidFill>
          <a:ln w="12700">
            <a:solidFill>
              <a:srgbClr val="3E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920240"/>
            <a:ext cx="2606040" cy="73152"/>
          </a:xfrm>
          <a:prstGeom prst="rect">
            <a:avLst/>
          </a:prstGeom>
          <a:solidFill>
            <a:srgbClr val="3E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1945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3F5F8"/>
                </a:solidFill>
                <a:latin typeface="Segoe UI Semibold"/>
              </a:rPr>
              <a:t>n8n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01752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E9BE8"/>
                </a:solidFill>
                <a:latin typeface="Segoe UI Semibold"/>
              </a:rPr>
              <a:t>2 vCPU / 4GB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5204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1 instance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1148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Tải theo số sự kiện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cao/nguy hiểm thực tế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51976" y="1920240"/>
            <a:ext cx="2606040" cy="3291840"/>
          </a:xfrm>
          <a:prstGeom prst="rect">
            <a:avLst/>
          </a:prstGeom>
          <a:solidFill>
            <a:srgbClr val="111C2E"/>
          </a:solidFill>
          <a:ln w="12700">
            <a:solidFill>
              <a:srgbClr val="2E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1976" y="1920240"/>
            <a:ext cx="2606040" cy="73152"/>
          </a:xfrm>
          <a:prstGeom prst="rect">
            <a:avLst/>
          </a:prstGeom>
          <a:solidFill>
            <a:srgbClr val="2E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4" y="21945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3F5F8"/>
                </a:solidFill>
                <a:latin typeface="Segoe UI Semibold"/>
              </a:rPr>
              <a:t>Grafana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301752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EC26B"/>
                </a:solidFill>
                <a:latin typeface="Segoe UI Semibold"/>
              </a:rPr>
              <a:t>1 vCPU / 2GB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35204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Chỉ đọc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41148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Tải nhẹ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939FB8"/>
                </a:solidFill>
                <a:latin typeface="Segoe UI"/>
              </a:rPr>
              <a:t>Sizing khuyến nghị cho toàn bộ 2.000 máy — docs/02_Trien_khai_2000_may.md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RỦI RO &amp; GIẢM THIỂU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15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3F5F8"/>
                </a:solidFill>
                <a:latin typeface="Segoe UI Semibold"/>
              </a:rPr>
              <a:t>Rủi ro đã được nhận diện và thiết kế phương án trước khi triển khai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029200" cy="640080"/>
          </a:xfrm>
          <a:prstGeom prst="rect">
            <a:avLst/>
          </a:prstGeom>
          <a:solidFill>
            <a:srgbClr val="111C2E"/>
          </a:solidFill>
          <a:ln w="9525">
            <a:solidFill>
              <a:srgbClr val="E55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2.000 máy gọi API cùng lúc</a:t>
            </a:r>
          </a:p>
        </p:txBody>
      </p:sp>
      <p:sp>
        <p:nvSpPr>
          <p:cNvPr id="8" name="Chevron 7"/>
          <p:cNvSpPr/>
          <p:nvPr/>
        </p:nvSpPr>
        <p:spPr>
          <a:xfrm>
            <a:off x="5806440" y="1755648"/>
            <a:ext cx="320040" cy="329184"/>
          </a:xfrm>
          <a:prstGeom prst="chevron">
            <a:avLst/>
          </a:prstGeom>
          <a:solidFill>
            <a:srgbClr val="2E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5257800" cy="640080"/>
          </a:xfrm>
          <a:prstGeom prst="rect">
            <a:avLst/>
          </a:prstGeom>
          <a:solidFill>
            <a:srgbClr val="111C2E"/>
          </a:solidFill>
          <a:ln w="9525">
            <a:solidFill>
              <a:srgbClr val="2E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Jitter tự nhiên + delay ngẫu nhiên 0-300s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50008"/>
            <a:ext cx="5029200" cy="640080"/>
          </a:xfrm>
          <a:prstGeom prst="rect">
            <a:avLst/>
          </a:prstGeom>
          <a:solidFill>
            <a:srgbClr val="111C2E"/>
          </a:solidFill>
          <a:ln w="9525">
            <a:solidFill>
              <a:srgbClr val="E55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0008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1 key lộ = cả nhóm máy bị giả danh</a:t>
            </a:r>
          </a:p>
        </p:txBody>
      </p:sp>
      <p:sp>
        <p:nvSpPr>
          <p:cNvPr id="13" name="Chevron 12"/>
          <p:cNvSpPr/>
          <p:nvPr/>
        </p:nvSpPr>
        <p:spPr>
          <a:xfrm>
            <a:off x="5806440" y="2505456"/>
            <a:ext cx="320040" cy="329184"/>
          </a:xfrm>
          <a:prstGeom prst="chevron">
            <a:avLst/>
          </a:prstGeom>
          <a:solidFill>
            <a:srgbClr val="2E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350008"/>
            <a:ext cx="5257800" cy="640080"/>
          </a:xfrm>
          <a:prstGeom prst="rect">
            <a:avLst/>
          </a:prstGeom>
          <a:solidFill>
            <a:srgbClr val="111C2E"/>
          </a:solidFill>
          <a:ln w="9525">
            <a:solidFill>
              <a:srgbClr val="2E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350008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Key theo từng nhóm, xoay vòng 90 ngày, lộ trình mTLS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099815"/>
            <a:ext cx="5029200" cy="640080"/>
          </a:xfrm>
          <a:prstGeom prst="rect">
            <a:avLst/>
          </a:prstGeom>
          <a:solidFill>
            <a:srgbClr val="111C2E"/>
          </a:solidFill>
          <a:ln w="9525">
            <a:solidFill>
              <a:srgbClr val="E55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99815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Tự động hoá gây lỗi hàng loạt</a:t>
            </a:r>
          </a:p>
        </p:txBody>
      </p:sp>
      <p:sp>
        <p:nvSpPr>
          <p:cNvPr id="18" name="Chevron 17"/>
          <p:cNvSpPr/>
          <p:nvPr/>
        </p:nvSpPr>
        <p:spPr>
          <a:xfrm>
            <a:off x="5806440" y="3255263"/>
            <a:ext cx="320040" cy="329184"/>
          </a:xfrm>
          <a:prstGeom prst="chevron">
            <a:avLst/>
          </a:prstGeom>
          <a:solidFill>
            <a:srgbClr val="2E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099815"/>
            <a:ext cx="5257800" cy="640080"/>
          </a:xfrm>
          <a:prstGeom prst="rect">
            <a:avLst/>
          </a:prstGeom>
          <a:solidFill>
            <a:srgbClr val="111C2E"/>
          </a:solidFill>
          <a:ln w="9525">
            <a:solidFill>
              <a:srgbClr val="2E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99815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Canary 1%→10%→100% + phanh khẩn cấp tự dừng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49624"/>
            <a:ext cx="5029200" cy="640080"/>
          </a:xfrm>
          <a:prstGeom prst="rect">
            <a:avLst/>
          </a:prstGeom>
          <a:solidFill>
            <a:srgbClr val="111C2E"/>
          </a:solidFill>
          <a:ln w="9525">
            <a:solidFill>
              <a:srgbClr val="E55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849624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AI bị dữ liệu giả mạo tiêm lệnh</a:t>
            </a:r>
          </a:p>
        </p:txBody>
      </p:sp>
      <p:sp>
        <p:nvSpPr>
          <p:cNvPr id="23" name="Chevron 22"/>
          <p:cNvSpPr/>
          <p:nvPr/>
        </p:nvSpPr>
        <p:spPr>
          <a:xfrm>
            <a:off x="5806440" y="4005072"/>
            <a:ext cx="320040" cy="329184"/>
          </a:xfrm>
          <a:prstGeom prst="chevron">
            <a:avLst/>
          </a:prstGeom>
          <a:solidFill>
            <a:srgbClr val="2E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849624"/>
            <a:ext cx="5257800" cy="640080"/>
          </a:xfrm>
          <a:prstGeom prst="rect">
            <a:avLst/>
          </a:prstGeom>
          <a:solidFill>
            <a:srgbClr val="111C2E"/>
          </a:solidFill>
          <a:ln w="9525">
            <a:solidFill>
              <a:srgbClr val="2E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849624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System prompt chặn + allowlist phía server luôn kiểm tra lại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99432"/>
            <a:ext cx="5029200" cy="640080"/>
          </a:xfrm>
          <a:prstGeom prst="rect">
            <a:avLst/>
          </a:prstGeom>
          <a:solidFill>
            <a:srgbClr val="111C2E"/>
          </a:solidFill>
          <a:ln w="9525">
            <a:solidFill>
              <a:srgbClr val="E55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599432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Hệ thống giám sát tự nó bị lỗi</a:t>
            </a:r>
          </a:p>
        </p:txBody>
      </p:sp>
      <p:sp>
        <p:nvSpPr>
          <p:cNvPr id="28" name="Chevron 27"/>
          <p:cNvSpPr/>
          <p:nvPr/>
        </p:nvSpPr>
        <p:spPr>
          <a:xfrm>
            <a:off x="5806440" y="4754880"/>
            <a:ext cx="320040" cy="329184"/>
          </a:xfrm>
          <a:prstGeom prst="chevron">
            <a:avLst/>
          </a:prstGeom>
          <a:solidFill>
            <a:srgbClr val="2E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599432"/>
            <a:ext cx="5257800" cy="640080"/>
          </a:xfrm>
          <a:prstGeom prst="rect">
            <a:avLst/>
          </a:prstGeom>
          <a:solidFill>
            <a:srgbClr val="111C2E"/>
          </a:solidFill>
          <a:ln w="9525">
            <a:solidFill>
              <a:srgbClr val="2E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599432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Healthcheck + cảnh báo nếu &gt;5% máy im lặng trong 1 giờ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49240"/>
            <a:ext cx="5029200" cy="640080"/>
          </a:xfrm>
          <a:prstGeom prst="rect">
            <a:avLst/>
          </a:prstGeom>
          <a:solidFill>
            <a:srgbClr val="111C2E"/>
          </a:solidFill>
          <a:ln w="9525">
            <a:solidFill>
              <a:srgbClr val="E55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349240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Gói tự cập nhật client chưa có chữ ký số</a:t>
            </a:r>
          </a:p>
        </p:txBody>
      </p:sp>
      <p:sp>
        <p:nvSpPr>
          <p:cNvPr id="33" name="Chevron 32"/>
          <p:cNvSpPr/>
          <p:nvPr/>
        </p:nvSpPr>
        <p:spPr>
          <a:xfrm>
            <a:off x="5806440" y="5504688"/>
            <a:ext cx="320040" cy="329184"/>
          </a:xfrm>
          <a:prstGeom prst="chevron">
            <a:avLst/>
          </a:prstGeom>
          <a:solidFill>
            <a:srgbClr val="2E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5349240"/>
            <a:ext cx="5257800" cy="640080"/>
          </a:xfrm>
          <a:prstGeom prst="rect">
            <a:avLst/>
          </a:prstGeom>
          <a:solidFill>
            <a:srgbClr val="111C2E"/>
          </a:solidFill>
          <a:ln w="9525">
            <a:solidFill>
              <a:srgbClr val="2E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349240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Chỉ dùng canary rollout thủ công có kiểm soát cho tới khi bổ sung ký số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QUÁ TRÌNH THIẾT KẾ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16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3F5F8"/>
                </a:solidFill>
                <a:latin typeface="Segoe UI Semibold"/>
              </a:rPr>
              <a:t>Mỗi quyết định kiến trúc đều đi qua phản biện trước khi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939FB8"/>
                </a:solidFill>
                <a:latin typeface="Segoe UI"/>
              </a:rPr>
              <a:t>Trích một số phản biện đã thực hiện và quyết định cuối cùng.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65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2B02E"/>
                </a:solidFill>
                <a:latin typeface="Segoe UI Semibold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n8n đẩy lệnh trực tiếp vào 2.000 client qua WinRM/PsExec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365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EC26B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92024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Loại bỏ — chuyển sang mô hình client tự pull lệnh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61488"/>
            <a:ext cx="365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2B02E"/>
                </a:solidFill>
                <a:latin typeface="Segoe UI Semibold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61488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SFC/TRIM chạy đồng loạt 2.000 máy giờ hành chính gây nghẽn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61488"/>
            <a:ext cx="365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EC26B"/>
                </a:solidFill>
                <a:latin typeface="Segoe UI Semibol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761488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Thêm gate idle-state + maintenance window + người duyệt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02736"/>
            <a:ext cx="365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2B02E"/>
                </a:solidFill>
                <a:latin typeface="Segoe UI Semibold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02736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1 API key dùng chung vĩnh viễn cho 2.000 máy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602736"/>
            <a:ext cx="365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EC26B"/>
                </a:solidFill>
                <a:latin typeface="Segoe UI Semibol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602736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Key theo nhóm máy (OU), xoay vòng định kỳ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43984"/>
            <a:ext cx="365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2B02E"/>
                </a:solidFill>
                <a:latin typeface="Segoe UI Semibold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443984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AI có thể bị tiêm lệnh qua dữ liệu Event Log giả mạo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443984"/>
            <a:ext cx="365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EC26B"/>
                </a:solidFill>
                <a:latin typeface="Segoe UI Semibol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43984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System prompt chặn + ca kiểm thử bắt buộc trước khi bật tự động hoá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85232"/>
            <a:ext cx="365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2B02E"/>
                </a:solidFill>
                <a:latin typeface="Segoe UI Semibold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285232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3F5F8"/>
                </a:solidFill>
                <a:latin typeface="Segoe UI"/>
              </a:rPr>
              <a:t>Giả định id_netchat = tên máy vì nhân viên tự chat trên máy mình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285232"/>
            <a:ext cx="365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EC26B"/>
                </a:solidFill>
                <a:latin typeface="Segoe UI Semibold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28523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39FB8"/>
                </a:solidFill>
                <a:latin typeface="Segoe UI"/>
              </a:rPr>
              <a:t>Phản biện lại bằng ca thực tế ngoại lệ (dùng điện thoại, máy chung) — chọn phương án trợ lý tự hỏi lại tên máy khi cần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939FB8"/>
                </a:solidFill>
                <a:latin typeface="Segoe UI"/>
              </a:rPr>
              <a:t>Toàn bộ bảng phản biện: docs/00_Dan_y_va_phan_bien.md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B594"/>
                </a:solidFill>
                <a:latin typeface="Segoe UI Semibold"/>
              </a:rPr>
              <a:t>LỢI ÍCH &amp; ĐỀ XUẤT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320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17 / 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49808"/>
            <a:ext cx="10911535" cy="0"/>
          </a:xfrm>
          <a:prstGeom prst="line">
            <a:avLst/>
          </a:prstGeom>
          <a:ln w="12700">
            <a:solidFill>
              <a:srgbClr val="243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F3F5F8"/>
                </a:solidFill>
                <a:latin typeface="Segoe UI Semibold"/>
              </a:rPr>
              <a:t>Lợi ích kỳ vọng &amp; đề xuất cần lãnh đạo phê duyệt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B594"/>
                </a:solidFill>
                <a:latin typeface="Segoe UI Semibold"/>
              </a:rPr>
              <a:t>LỢI ÍCH KỲ VỌNG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120640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1FB594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Phát hiện sự cố trước khi người dùng bị gián đoạn, thay vì chờ báo cáo thủ công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1FB594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Giảm thời gian IT lặp lại thao tác xử lý cơ bản (dọn ổ đĩa, flush DNS, khởi động lại dịch vụ treo)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1FB594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Có số liệu tổng thể theo thời gian thực để ra quyết định, thay vì cảm tính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1FB594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Kiến trúc pull-only giảm rủi ro bảo mật so với các công cụ quản trị từ xa truyền thống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1FB594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IT từng khu vực chủ động theo dõi khu vực mình mà không cần chờ báo cáo tổng hợp từ trụ sở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E9BE8"/>
                </a:solidFill>
                <a:latin typeface="Segoe UI Semibold"/>
              </a:rPr>
              <a:t>ĐỀ XUẤT CẦN PHÊ DUYỆT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5120640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3E9BE8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Phê duyệt ngân sách hạ tầng server (sizing tại slide 14)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3E9BE8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Phê duyệt lộ trình 5 giai đoạn, bắt đầu Giai đoạn 0 trong tuần tới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3E9BE8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Chỉ định 1 trưởng nhóm chịu trách nhiệm ra quyết định Go/No-Go mỗi giai đoạn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3E9BE8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Xác nhận phạm vi thí điểm ban đầu (đề xuất: OU phòng IT, 20-50 máy)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3E9BE8"/>
                </a:solidFill>
                <a:latin typeface="Segoe UI"/>
              </a:rPr>
              <a:t>›  </a:t>
            </a:r>
            <a:r>
              <a:rPr sz="1200">
                <a:solidFill>
                  <a:srgbClr val="F3F5F8"/>
                </a:solidFill>
                <a:latin typeface="Segoe UI"/>
              </a:rPr>
              <a:t>Cấp tài khoản dịch vụ LDAP chỉ đọc + xác nhận cấu trúc OU thật cho phân quyền khu vực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B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3F5F8"/>
                </a:solidFill>
                <a:latin typeface="Segoe UI Semibold"/>
              </a:rPr>
              <a:t>Cảm 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3E9BE8"/>
                </a:solidFill>
                <a:latin typeface="Segoe UI"/>
              </a:rPr>
              <a:t>Câu hỏi &amp; thảo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9FB8"/>
                </a:solidFill>
                <a:latin typeface="Segoe UI"/>
              </a:rPr>
              <a:t>PCHealth AI Agent 2000 — Phòng/Ban Công nghệ thông 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